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/Users/void/proj/loyaltyX5/README.md
- /Users/void/proj/loyaltyX5/docs/09-current-product-direction.md
- /Users/void/proj/loyaltyX5/app/x5-game-layer.html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/Users/void/proj/loyaltyX5/docs/01-case.md
- /Users/void/proj/loyaltyX5/docs/10-brand-design-research.md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/Users/void/proj/loyaltyX5/docs/09-current-product-direction.md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/Users/void/proj/loyaltyX5/docs/09-current-product-direction.md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/Users/void/proj/loyaltyX5/docs/00-final-concept.md
- /Users/void/proj/loyaltyX5/docs/research/02-ai-challenge-generator.md
- /Users/void/proj/loyaltyX5/docs/research/03-mechanic-recommender.md
- /Users/void/proj/loyaltyX5/app/engine.js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/Users/void/proj/loyaltyX5/app/x5-game-layer.html
- /Users/void/proj/loyaltyX5/app/app.js
- /Users/void/proj/loyaltyX5/app/engine.js
- /Users/void/proj/loyaltyX5/app/data.js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/Users/void/proj/loyaltyX5/docs/research/04-reward-economics.md
- /Users/void/proj/loyaltyX5/docs/research/04-reward-scenarios.csv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/Users/void/proj/loyaltyX5/docs/research/05-antifraud.md
- /Users/void/proj/loyaltyX5/docs/09-current-product-direction.md
- /Users/void/proj/loyaltyX5/app/engine.js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/Users/void/proj/loyaltyX5/docs/07-russia-demography-for-simulation.md
- https://rosstat.gov.ru/folder/11110/document/13284
- https://rosstat.gov.ru/opendata/7708234640-IKT-twenty-twenty-five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/Users/void/proj/loyaltyX5/docs/research/06-simulation-summary.md
- /Users/void/proj/loyaltyX5/docs/research/simulation/results/reference_metrics.csv
- /Users/void/proj/loyaltyX5/docs/research/simulation/results/monte_carlo_summary.csv
- /Users/void/proj/loyaltyX5/docs/research/simulation/figures/mc_itt_n10000.png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/Users/void/proj/loyaltyX5/docs/research/07-pilot-plan.md
- /Users/void/proj/loyaltyX5/docs/00-final-concept.md
- https://projecteuclid.org/journals/statistical-science/volume-24/issue-1/The-Essential-Role-of-Pair-Matching-in-Cluster-Randomized-Experiments/10.1214/08-STS274.full
- https://www.bmj.com/content/345/bmj.e5661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/Users/void/proj/loyaltyX5/docs/08-correspondence-summary.md
- /Users/void/proj/loyaltyX5/docs/09-current-product-direction.md
- /Users/void/proj/loyaltyX5/docs/research/07-pilot-plan.md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303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spc="180" kern="0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X5 ДВОР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98448"/>
            <a:ext cx="53492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Персональная игра,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которая окупается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76656" y="3163824"/>
            <a:ext cx="5047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ИИ выбирает механику. Экономический gate решает, можно ли её показать.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76656" y="4187952"/>
            <a:ext cx="1828800" cy="32004"/>
          </a:xfrm>
          <a:prstGeom prst="rect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4370832"/>
            <a:ext cx="5102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Челленджи · СТМ · «Горячий шанс» · персональная лига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59984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 → причинный пилот → интеграция в экосистему X5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457200"/>
            <a:ext cx="5394960" cy="5897880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pic>
        <p:nvPicPr>
          <p:cNvPr id="10" name="Image 0" descr="/Users/void/proj/loyaltyX5/.tmp/presentation-build/app-preview/x5-game-layer.ht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676656"/>
            <a:ext cx="4992624" cy="49926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64808" y="5815584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Рабочий desktop-web MVP: пользовательский экран + консоль решения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62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СИНТЕТИЧЕСКАЯ ДЕМОНСТРАЦИЯ · НЕ ПРОДУКТ X5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45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От разовой скидки — к привычке возврата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1045952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84832" y="192024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B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95344" y="192024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B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19202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СКИДКА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578608" y="1920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ВИЗИТ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ТИШИНА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3310128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Короткий всплеск не формирует измеримый цикл между покупками.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44768" y="1353312"/>
            <a:ext cx="5449824" cy="4297680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16642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Что мешает сейчас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212848"/>
            <a:ext cx="462686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механики существуют как разовые кампании, но не как единый персональный слой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пользователь слабо видит прогресс и собственную экономию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награда без uplift-модели способна съесть дополнительную маржу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чеки, возвраты и рефералы создают риск накрутки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" y="5065776"/>
            <a:ext cx="5047488" cy="932688"/>
          </a:xfrm>
          <a:prstGeom prst="rect">
            <a:avLst/>
          </a:prstGeom>
          <a:solidFill>
            <a:srgbClr val="EAFBDC"/>
          </a:solidFill>
          <a:ln w="13970">
            <a:solidFill>
              <a:srgbClr val="0F7B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5285232"/>
            <a:ext cx="4535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 новый промокод, а управляемый цикл с правом системы сказать «нет».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53796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Источник проблемы: формулировка кейса · оценки эффекта требуют пилота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1173968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45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Потери ритейла превращаются в награду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1045952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54096" y="2542032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B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010144" y="254203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2359152" cy="2907792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175564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19456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Будущие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списания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145536"/>
            <a:ext cx="18105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Только безопасный SKU с высокой вероятностью не продаться вовремя.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584448" y="1481328"/>
            <a:ext cx="4151376" cy="2907792"/>
          </a:xfrm>
          <a:prstGeom prst="rect">
            <a:avLst/>
          </a:prstGeom>
          <a:solidFill>
            <a:srgbClr val="05310A"/>
          </a:solidFill>
          <a:ln w="10160">
            <a:solidFill>
              <a:srgbClr val="0531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95344" y="1764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9BE5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ЕДИНЫЙ ДВИЖОК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95344" y="221284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Персональная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механика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895344" y="3310128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E8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Рекомендатель + economics gate + safety + антифрод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070848" y="1481328"/>
            <a:ext cx="2468880" cy="2907792"/>
          </a:xfrm>
          <a:prstGeom prst="rect">
            <a:avLst/>
          </a:prstGeom>
          <a:solidFill>
            <a:srgbClr val="EAFBDC"/>
          </a:solidFill>
          <a:ln w="10160">
            <a:solidFill>
              <a:srgbClr val="0F7B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175564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21945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Маржа СТМ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871216"/>
            <a:ext cx="1920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Недопроданная маржа. Только сопоставимая замена: дешевле покупателю и маржинальнее X5.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" y="4828032"/>
            <a:ext cx="10881360" cy="1005840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065776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доп. contribution margin + ожидаемо предотвращённое списание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5065776"/>
            <a:ext cx="5266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 награда − каннибализация − операции − возвраты − fraud loss  &gt;  safety buffer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53796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Экономическая формула — правило допуска; реальные параметры требуют данных X5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173968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45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Четыре механики — одна экономика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1045952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44475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877824" cy="32004"/>
          </a:xfrm>
          <a:prstGeom prst="rect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0848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Челленджи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944368"/>
            <a:ext cx="245059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 квалифицированных покупок или покупок в категории → гарантированный приз.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Порог — относительно личного baseline.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273552" y="1408176"/>
            <a:ext cx="10973" cy="4133088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3008" y="144475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93008" y="1847088"/>
            <a:ext cx="877824" cy="32004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93008" y="20848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Сохрани рубли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944368"/>
            <a:ext cx="245059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Замена на сопоставимый СТМ.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Баллы только если цена за единицу ниже, а contribution margin выше.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108192" y="1408176"/>
            <a:ext cx="10973" cy="4133088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144475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A62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27648" y="1847088"/>
            <a:ext cx="877824" cy="32004"/>
          </a:xfrm>
          <a:prstGeom prst="rect">
            <a:avLst/>
          </a:prstGeom>
          <a:solidFill>
            <a:srgbClr val="9A6207"/>
          </a:solidFill>
          <a:ln w="12700">
            <a:solidFill>
              <a:srgbClr val="9A620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20848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Горячий шанс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944368"/>
            <a:ext cx="245059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Бесплатная попытка выиграть безопасный товар до срока годности.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Без ставок, cash-out и просроченных призов.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942832" y="1408176"/>
            <a:ext cx="10973" cy="4133088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2288" y="144475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62288" y="1847088"/>
            <a:ext cx="877824" cy="32004"/>
          </a:xfrm>
          <a:prstGeom prst="rect">
            <a:avLst/>
          </a:prstGeom>
          <a:solidFill>
            <a:srgbClr val="05310A"/>
          </a:solidFill>
          <a:ln w="12700">
            <a:solidFill>
              <a:srgbClr val="05310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62288" y="20848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Персональная лига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62288" y="2944368"/>
            <a:ext cx="245059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Малые сопоставимые когорты; score за прирост к своей норме.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Фиксированные правила, честный ранг и caps.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58368" y="5559552"/>
            <a:ext cx="10881360" cy="658368"/>
          </a:xfrm>
          <a:prstGeom prst="rect">
            <a:avLst/>
          </a:prstGeom>
          <a:solidFill>
            <a:srgbClr val="EAFBDC"/>
          </a:solidFill>
          <a:ln w="10160">
            <a:solidFill>
              <a:srgbClr val="0F7B3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" y="5733288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СТМ может быть целью или наградой во всех механиках. Пользователь получает одну основную цель.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53796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Приоритет PoC: челленджи → СТМ → «Горячий шанс» → лига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73968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45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ИИ выбирает механику — или NO_OFFER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1045952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0" y="240487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B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35424" y="240487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B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784848" y="240487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B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034272" y="240487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1664208" cy="1664208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020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Данные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7432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Чеки · остатки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СТМ · возвраты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07792" y="1883664"/>
            <a:ext cx="1664208" cy="1664208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54096" y="2020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3054096" y="27432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Частота · категории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цены · promo response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57216" y="1883664"/>
            <a:ext cx="1664208" cy="1664208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2020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Кандидаты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7432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LLM: цель +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понятный текст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1883664"/>
            <a:ext cx="1664208" cy="1664208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52944" y="2020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552944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Скоринг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7552944" y="27432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p₀ · p₁ · ENIM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fit · reason codes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56064" y="1883664"/>
            <a:ext cx="1664208" cy="1664208"/>
          </a:xfrm>
          <a:prstGeom prst="rect">
            <a:avLst/>
          </a:prstGeom>
          <a:solidFill>
            <a:srgbClr val="EAFBDC"/>
          </a:solidFill>
          <a:ln w="10160">
            <a:solidFill>
              <a:srgbClr val="0F7B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02368" y="2020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9802368" y="27432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Экономика · safety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fraud · наличие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" y="4096512"/>
            <a:ext cx="5157216" cy="1499616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" y="437083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— в рамках политики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" y="481888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 назначает награду, не меняет blocklist и не подменяет расчёт экономики.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053328" y="4096512"/>
            <a:ext cx="5486400" cy="1499616"/>
          </a:xfrm>
          <a:prstGeom prst="rect">
            <a:avLst/>
          </a:prstGeom>
          <a:solidFill>
            <a:srgbClr val="05310A"/>
          </a:solidFill>
          <a:ln w="10160">
            <a:solidFill>
              <a:srgbClr val="05310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64224" y="4370832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Объяснение — часть решения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6364224" y="481888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E8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Пользователь видит «Почему мне это?», бизнес — baseline, стоимость, ENIM и reason codes отказа.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53796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Модель генерирует кандидатов; детерминированные правила сохраняют право вето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1173968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45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 показывает игру и решение системы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1045952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98448"/>
            <a:ext cx="3346704" cy="4864608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pic>
        <p:nvPicPr>
          <p:cNvPr id="5" name="Image 0" descr="/Users/void/proj/loyaltyX5/.tmp/presentation-build/app-phone-cro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508760"/>
            <a:ext cx="2176272" cy="43525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353312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ПОКУПАТЕЛЬ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261104" y="1298448"/>
            <a:ext cx="7278624" cy="3383280"/>
          </a:xfrm>
          <a:prstGeom prst="rect">
            <a:avLst/>
          </a:prstGeom>
          <a:solidFill>
            <a:srgbClr val="0E1512"/>
          </a:solidFill>
          <a:ln w="10160">
            <a:solidFill>
              <a:srgbClr val="0E1512"/>
            </a:solidFill>
            <a:prstDash val="solid"/>
          </a:ln>
        </p:spPr>
      </p:sp>
      <p:pic>
        <p:nvPicPr>
          <p:cNvPr id="8" name="Image 1" descr="/Users/void/proj/loyaltyX5/.tmp/presentation-build/app-console-wid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1554480"/>
            <a:ext cx="6821424" cy="30998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52544" y="488289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Сценарий «Ирина»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352544" y="520293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4352544" y="56784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визитов / 28 дней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520293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620 ₽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567842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средний чек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534656" y="5202936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7534656" y="567842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баллов в награде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9235440" y="520293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+8,98 ₽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9235440" y="56784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ожидаемый ENIM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66928" y="653796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Все значения на экране — синтетические входы сценария; переключатели показывают другие профили и сети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11173968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45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Награда ограничена прибылью, а не GMV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1045952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89888"/>
            <a:ext cx="6035040" cy="4334256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Номинал награды, ₽ / выполнившего · шкала до 160 ₽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0195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B326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СТРЕСС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4028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R_max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27632" y="2258568"/>
            <a:ext cx="4535424" cy="146304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7632" y="2532888"/>
            <a:ext cx="4535424" cy="146304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76672" y="218541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₽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76672" y="245973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₽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99923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БАЗОВЫЙ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33756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R_max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61188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27632" y="3355848"/>
            <a:ext cx="4535424" cy="146304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27632" y="3630168"/>
            <a:ext cx="4535424" cy="146304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27632" y="3355848"/>
            <a:ext cx="629007" cy="146304"/>
          </a:xfrm>
          <a:prstGeom prst="rect">
            <a:avLst/>
          </a:prstGeom>
          <a:solidFill>
            <a:srgbClr val="9FCBAE"/>
          </a:solidFill>
          <a:ln w="12700">
            <a:solidFill>
              <a:srgbClr val="9FCBA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27632" y="3630168"/>
            <a:ext cx="566928" cy="146304"/>
          </a:xfrm>
          <a:prstGeom prst="rect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76672" y="32826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22,19 ₽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76672" y="355701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 ₽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09651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АПСАЙД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43484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R_max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70916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27632" y="4453128"/>
            <a:ext cx="4535424" cy="146304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7632" y="4727448"/>
            <a:ext cx="4535424" cy="146304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7632" y="4453128"/>
            <a:ext cx="4179960" cy="146304"/>
          </a:xfrm>
          <a:prstGeom prst="rect">
            <a:avLst/>
          </a:prstGeom>
          <a:solidFill>
            <a:srgbClr val="9FCBAE"/>
          </a:solidFill>
          <a:ln w="12700">
            <a:solidFill>
              <a:srgbClr val="9FCBA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27632" y="4727448"/>
            <a:ext cx="3968496" cy="146304"/>
          </a:xfrm>
          <a:prstGeom prst="rect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76672" y="437997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147,46 ₽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376672" y="46542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140 ₽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04304" y="1389888"/>
            <a:ext cx="4535424" cy="1170432"/>
          </a:xfrm>
          <a:prstGeom prst="rect">
            <a:avLst/>
          </a:prstGeom>
          <a:solidFill>
            <a:srgbClr val="FCEDEC"/>
          </a:solidFill>
          <a:ln w="10160">
            <a:solidFill>
              <a:srgbClr val="B326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Консервативный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200253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LCB −0,16 ₽ → NO_OFFER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7004304" y="2779776"/>
            <a:ext cx="4535424" cy="1170432"/>
          </a:xfrm>
          <a:prstGeom prst="rect">
            <a:avLst/>
          </a:prstGeom>
          <a:solidFill>
            <a:srgbClr val="EAFBDC"/>
          </a:solidFill>
          <a:ln w="10160">
            <a:solidFill>
              <a:srgbClr val="0F7B3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0" y="3017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Базовый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0" y="3328416"/>
            <a:ext cx="3986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Rmax 22,19 ₽ · reward 20 ₽ · LCB +0,50 ₽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004304" y="4169664"/>
            <a:ext cx="4535424" cy="1170432"/>
          </a:xfrm>
          <a:prstGeom prst="rect">
            <a:avLst/>
          </a:prstGeom>
          <a:solidFill>
            <a:srgbClr val="EAFBDC"/>
          </a:solidFill>
          <a:ln w="10160">
            <a:solidFill>
              <a:srgbClr val="0F7B3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0" y="4407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Апсайд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0" y="4718304"/>
            <a:ext cx="3986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Rmax 147,46 ₽ · reward 140 ₽ · LCB +1,41 ₽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58368" y="5879592"/>
            <a:ext cx="10881360" cy="411480"/>
          </a:xfrm>
          <a:prstGeom prst="rect">
            <a:avLst/>
          </a:prstGeom>
          <a:solidFill>
            <a:srgbClr val="F4F7F4"/>
          </a:solidFill>
          <a:ln w="8890">
            <a:solidFill>
              <a:srgbClr val="B8BCC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96112" y="5989320"/>
            <a:ext cx="10351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R_selected ≤ R_max  и  нижняя граница прибыли &gt; 0; иначе показ блокируется.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53796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Три строки — scenario analysis, не оценка X5; на пилоте действует stop-loss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1173968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45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Safety до экономики; блокировка — по сигналам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1045952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89888"/>
            <a:ext cx="5266944" cy="4425696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700784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Вовлечение не должно вредить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32688" y="2395728"/>
            <a:ext cx="329184" cy="329184"/>
          </a:xfrm>
          <a:prstGeom prst="ellipse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4048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340864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Алкоголь и табак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73552" y="2340864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Только receipt-derived safety-признак; никогда не цель и не награда.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32688" y="3364992"/>
            <a:ext cx="329184" cy="329184"/>
          </a:xfrm>
          <a:prstGeom prst="ellipse">
            <a:avLst/>
          </a:prstGeom>
          <a:solidFill>
            <a:srgbClr val="9A6207"/>
          </a:solidFill>
          <a:ln w="12700">
            <a:solidFill>
              <a:srgbClr val="9A620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3741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26464" y="33101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«Горячий» товар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73552" y="331012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 просрочен, прошёл качество и раскрывает близкий срок годности.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32688" y="4334256"/>
            <a:ext cx="329184" cy="329184"/>
          </a:xfrm>
          <a:prstGeom prst="ellipse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" y="434340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26464" y="42793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Честная лига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4279392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Реальные соперники, фиксированные правила, privacy и лимиты score.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99632" y="1389888"/>
            <a:ext cx="5340096" cy="4425696"/>
          </a:xfrm>
          <a:prstGeom prst="rect">
            <a:avLst/>
          </a:prstGeom>
          <a:solidFill>
            <a:srgbClr val="0E1512"/>
          </a:solidFill>
          <a:ln w="10160">
            <a:solidFill>
              <a:srgbClr val="0E15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0528" y="170078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Простой антифрод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235915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8FDE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 RULE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2679192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7EF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Повторный transaction_id → отклонить событие, не обвиняя аккаунт.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34015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8FDE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HEURISTICS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3721608"/>
            <a:ext cx="45354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7EF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Дробление чеков · аномальная скорость · device cluster · рефералы без покупок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4709160"/>
            <a:ext cx="4535424" cy="731520"/>
          </a:xfrm>
          <a:prstGeom prst="rect">
            <a:avLst/>
          </a:prstGeom>
          <a:solidFill>
            <a:srgbClr val="05310A"/>
          </a:solidFill>
          <a:ln w="11430">
            <a:solidFill>
              <a:srgbClr val="0F7B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9984" y="489204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 BLOCK: score ≥ 75 + ≥2 независимых семейства сигналов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53796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Precision важнее Recall; предусмотрены hold, review, апелляция и reward ledger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1173968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45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РФ калибрует симуляцию, но не заменяет данные X5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1045952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89888"/>
            <a:ext cx="6748272" cy="4370832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276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Возрастные веса взрослого населения, 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842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18–24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664208" y="2020824"/>
            <a:ext cx="4407408" cy="164592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8" y="2020824"/>
            <a:ext cx="1584904" cy="164592"/>
          </a:xfrm>
          <a:prstGeom prst="rect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81344" y="19842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9,0%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5511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25–34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664208" y="2587752"/>
            <a:ext cx="4407408" cy="164592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64208" y="2587752"/>
            <a:ext cx="2654494" cy="164592"/>
          </a:xfrm>
          <a:prstGeom prst="rect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81344" y="25511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15,1%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1181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35–44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664208" y="3154680"/>
            <a:ext cx="4407408" cy="164592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4208" y="3154680"/>
            <a:ext cx="3721968" cy="164592"/>
          </a:xfrm>
          <a:prstGeom prst="rect">
            <a:avLst/>
          </a:prstGeom>
          <a:solidFill>
            <a:srgbClr val="05310A"/>
          </a:solidFill>
          <a:ln w="12700">
            <a:solidFill>
              <a:srgbClr val="05310A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81344" y="31181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21,1%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6850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45–54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664208" y="3721608"/>
            <a:ext cx="4407408" cy="164592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4208" y="3721608"/>
            <a:ext cx="3015372" cy="164592"/>
          </a:xfrm>
          <a:prstGeom prst="rect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81344" y="36850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17,1%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2519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55–64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664208" y="4288536"/>
            <a:ext cx="4407408" cy="164592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4208" y="4288536"/>
            <a:ext cx="2860408" cy="164592"/>
          </a:xfrm>
          <a:prstGeom prst="rect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81344" y="42519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16,2%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818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65+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664208" y="4855464"/>
            <a:ext cx="4407408" cy="164592"/>
          </a:xfrm>
          <a:prstGeom prst="rect">
            <a:avLst/>
          </a:prstGeom>
          <a:solidFill>
            <a:srgbClr val="DFE8E2"/>
          </a:solidFill>
          <a:ln w="12700">
            <a:solidFill>
              <a:srgbClr val="DFE8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4208" y="4855464"/>
            <a:ext cx="3792310" cy="164592"/>
          </a:xfrm>
          <a:prstGeom prst="rect">
            <a:avLst/>
          </a:prstGeom>
          <a:solidFill>
            <a:srgbClr val="05310A"/>
          </a:solidFill>
          <a:ln w="12700">
            <a:solidFill>
              <a:srgbClr val="05310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81344" y="48188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21,5%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735824" y="1389888"/>
            <a:ext cx="3803904" cy="1097280"/>
          </a:xfrm>
          <a:prstGeom prst="rect">
            <a:avLst/>
          </a:prstGeom>
          <a:solidFill>
            <a:srgbClr val="EAFBDC"/>
          </a:solidFill>
          <a:ln w="10160">
            <a:solidFill>
              <a:srgbClr val="0F7B3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1609344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75,2%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20848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городское население РФ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35824" y="2706624"/>
            <a:ext cx="3803904" cy="1097280"/>
          </a:xfrm>
          <a:prstGeom prst="rect">
            <a:avLst/>
          </a:prstGeom>
          <a:solidFill>
            <a:srgbClr val="E6F0FF"/>
          </a:solidFill>
          <a:ln w="10160">
            <a:solidFill>
              <a:srgbClr val="3D8D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292608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70,94%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3401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покупали онлайн за 12 мес. · proxy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35824" y="4023360"/>
            <a:ext cx="3803904" cy="1426464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0" y="4279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Как используем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468172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Возраст · пол · город/село · округ · домохозяйство · цифровая готовность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8368" y="5907024"/>
            <a:ext cx="10881360" cy="384048"/>
          </a:xfrm>
          <a:prstGeom prst="rect">
            <a:avLst/>
          </a:prstGeom>
          <a:solidFill>
            <a:srgbClr val="FDF4E3"/>
          </a:solidFill>
          <a:ln w="8890">
            <a:solidFill>
              <a:srgbClr val="9A620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9536" y="5998464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2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Онлайн-покупки — proxy цифровой готовности. Проникновение X5 Клуба и чеки — TO VALIDATE.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53796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Возрастные доли — расчёт из данных Росстата; демография не используется для финансовой дискриминации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1173968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45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Синтетика проверяет контур — эффект докажет пилот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1045952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89888"/>
            <a:ext cx="6601968" cy="4425696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pic>
        <p:nvPicPr>
          <p:cNvPr id="5" name="Image 0" descr="/Users/void/proj/loyaltyX5/docs/research/simulation/figures/mc_itt_n10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6163056" cy="3593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5340096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 повторов · n = 10 000 · средний ITT +1,017 визита / 8 недель · SD 0,182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534656" y="1389888"/>
            <a:ext cx="4005072" cy="1298448"/>
          </a:xfrm>
          <a:prstGeom prst="rect">
            <a:avLst/>
          </a:prstGeom>
          <a:solidFill>
            <a:srgbClr val="FCEDEC"/>
          </a:solidFill>
          <a:ln w="10160">
            <a:solidFill>
              <a:srgbClr val="B326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27264" y="1664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Один seed · n=1 000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827264" y="204825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частота −7,93% · NIM −394,61 ₽ / test user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34656" y="2907792"/>
            <a:ext cx="4005072" cy="1298448"/>
          </a:xfrm>
          <a:prstGeom prst="rect">
            <a:avLst/>
          </a:prstGeom>
          <a:solidFill>
            <a:srgbClr val="EAFBDC"/>
          </a:solidFill>
          <a:ln w="10160">
            <a:solidFill>
              <a:srgbClr val="0F7B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27264" y="3182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Один seed · n=10 000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827264" y="35661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частота +5,04% · NIM +142,15 ₽ / test user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534656" y="4425696"/>
            <a:ext cx="4005072" cy="1389888"/>
          </a:xfrm>
          <a:prstGeom prst="rect">
            <a:avLst/>
          </a:prstGeom>
          <a:solidFill>
            <a:srgbClr val="0E1512"/>
          </a:solidFill>
          <a:ln w="10160">
            <a:solidFill>
              <a:srgbClr val="0E151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27264" y="468172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FDE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Вывод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827264" y="5047488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7EF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Разные знаки = sampling variation.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7EF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 estimates не считаем прогнозом.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53796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Симуляция: 1–10 тыс. пользователей, 45 Monte Carlo повторов на размер, 17 sensitivity runs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1173968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45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Пилот: рост частоты без потери маржи?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1045952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" y="2907792"/>
            <a:ext cx="10168128" cy="16459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816352"/>
            <a:ext cx="182880" cy="182880"/>
          </a:xfrm>
          <a:prstGeom prst="rect">
            <a:avLst/>
          </a:prstGeom>
          <a:solidFill>
            <a:srgbClr val="0E1512"/>
          </a:solidFill>
          <a:ln w="12700">
            <a:solidFill>
              <a:srgbClr val="0E1512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56 дней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32369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Pre-period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373075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Baseline, home_store,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eligibility, matching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61104" y="2816352"/>
            <a:ext cx="182880" cy="182880"/>
          </a:xfrm>
          <a:prstGeom prst="rect">
            <a:avLst/>
          </a:prstGeom>
          <a:solidFill>
            <a:srgbClr val="0F7B3E"/>
          </a:solidFill>
          <a:ln w="12700">
            <a:solidFill>
              <a:srgbClr val="0F7B3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42816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 дня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42816" y="32369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Treatment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242816" y="373075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Фиксированная политика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 primary outcome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73568" y="2816352"/>
            <a:ext cx="182880" cy="182880"/>
          </a:xfrm>
          <a:prstGeom prst="rect">
            <a:avLst/>
          </a:prstGeom>
          <a:solidFill>
            <a:srgbClr val="0E1512"/>
          </a:solidFill>
          <a:ln w="12700">
            <a:solidFill>
              <a:srgbClr val="0E151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0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 дней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32369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Maturation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373075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Возвраты, pending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rewards, fraud settlement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4773168"/>
            <a:ext cx="3401568" cy="1060704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502005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· BAU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537667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Текущая лояльность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89120" y="4773168"/>
            <a:ext cx="3401568" cy="1060704"/>
          </a:xfrm>
          <a:prstGeom prst="rect">
            <a:avLst/>
          </a:prstGeom>
          <a:solidFill>
            <a:srgbClr val="EAFBDC"/>
          </a:solidFill>
          <a:ln w="10160">
            <a:solidFill>
              <a:srgbClr val="0F7B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502005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 · Solo parity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53766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Челлендж + личный прогресс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38160" y="4773168"/>
            <a:ext cx="3401568" cy="1060704"/>
          </a:xfrm>
          <a:prstGeom prst="rect">
            <a:avLst/>
          </a:prstGeom>
          <a:solidFill>
            <a:srgbClr val="05310A"/>
          </a:solidFill>
          <a:ln w="10160">
            <a:solidFill>
              <a:srgbClr val="05310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0" y="50200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 · Двор / social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53766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E8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Solo + групповой слой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607161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60533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квалифицированные покупочные дни / 42 дня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60716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MARGIN GATE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705856" y="60533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нижняя граница 95% CI &gt; −δM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394192" y="600760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 определяется power analysis по магазинам, не удобным круглым числом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53796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Matched/blocked store-cluster RCT · immutable arm по pre-period home_store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1173968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45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Следующий шаг — shadow-калибровка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11045952" cy="13716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0" y="2560320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8B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2560320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8B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2560320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1993392" cy="2944368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82880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СЕЙЧАС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267712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Desktop-web MVP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10896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механики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профилей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прозрачная экономика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767328" y="1572768"/>
            <a:ext cx="1993392" cy="2944368"/>
          </a:xfrm>
          <a:prstGeom prst="rect">
            <a:avLst/>
          </a:prstGeom>
          <a:solidFill>
            <a:srgbClr val="F4F7F4"/>
          </a:solidFill>
          <a:ln w="10160">
            <a:solidFill>
              <a:srgbClr val="B8BC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68496" y="182880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ШАГ 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68496" y="2267712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15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Shadow mode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968496" y="310896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Калибровка uplift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 SKU economics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без денежных наград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876288" y="1572768"/>
            <a:ext cx="1993392" cy="2944368"/>
          </a:xfrm>
          <a:prstGeom prst="rect">
            <a:avLst/>
          </a:prstGeom>
          <a:solidFill>
            <a:srgbClr val="EAFBDC"/>
          </a:solidFill>
          <a:ln w="10160">
            <a:solidFill>
              <a:srgbClr val="0F7B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77456" y="182880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F7B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ШАГ 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077456" y="2267712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531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Пилот с лимитами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077456" y="310896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Store-cluster RCT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stop-loss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3A48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 / ITERATE / STOP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985248" y="1572768"/>
            <a:ext cx="1993392" cy="2944368"/>
          </a:xfrm>
          <a:prstGeom prst="rect">
            <a:avLst/>
          </a:prstGeom>
          <a:solidFill>
            <a:srgbClr val="05310A"/>
          </a:solidFill>
          <a:ln w="10160">
            <a:solidFill>
              <a:srgbClr val="05310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86416" y="182880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FDE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ШАГ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86416" y="2267712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Интеграция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0186416" y="310896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D8E8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WebView или основной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D8E8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контур X5 Клуба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D8E8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без отдельного CAC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58368" y="4937760"/>
            <a:ext cx="10881360" cy="1188720"/>
          </a:xfrm>
          <a:prstGeom prst="rect">
            <a:avLst/>
          </a:prstGeom>
          <a:solidFill>
            <a:srgbClr val="0E1512"/>
          </a:solidFill>
          <a:ln w="10160">
            <a:solidFill>
              <a:srgbClr val="0E15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" y="5230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Что нужно от X5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999232" y="5175504"/>
            <a:ext cx="8101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D8E8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обезличенные чеки · contribution margin SKU · остатки и срок годности · возвраты и reward ledger · список пилотных магазинов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932688" y="5797296"/>
            <a:ext cx="10168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8FDE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Решение о следующем шаге: разрешить shadow-калибровку и подготовку протокола пилота.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537960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Путь внедрения: отдельный MVP сейчас → интеграция в существующую аудиторию X5 после доказанного эффекта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1173968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loyaltyX5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X5 Двор</dc:title>
  <dc:subject>X5 Двор — персональный игровой слой лояльности</dc:subject>
  <dc:creator>loyaltyX5 team</dc:creator>
  <cp:lastModifiedBy>loyaltyX5 team</cp:lastModifiedBy>
  <cp:revision>1</cp:revision>
  <dcterms:created xsi:type="dcterms:W3CDTF">2026-09-06T14:00:58Z</dcterms:created>
  <dcterms:modified xsi:type="dcterms:W3CDTF">2026-09-06T14:00:58Z</dcterms:modified>
</cp:coreProperties>
</file>